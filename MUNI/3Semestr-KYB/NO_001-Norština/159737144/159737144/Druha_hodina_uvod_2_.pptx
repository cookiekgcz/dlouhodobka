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4" r:id="rId4"/>
    <p:sldId id="296" r:id="rId5"/>
    <p:sldId id="295" r:id="rId6"/>
    <p:sldId id="293" r:id="rId7"/>
    <p:sldId id="298" r:id="rId8"/>
    <p:sldId id="2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0AC3D02-762B-42A9-A6F8-528CED61E437}"/>
    <pc:docChg chg="modSld">
      <pc:chgData name="Tomáš Bratina" userId="2033f5136aa55253" providerId="LiveId" clId="{70AC3D02-762B-42A9-A6F8-528CED61E437}" dt="2026-09-24T06:45:59.783" v="2" actId="20577"/>
      <pc:docMkLst>
        <pc:docMk/>
      </pc:docMkLst>
      <pc:sldChg chg="modSp mod">
        <pc:chgData name="Tomáš Bratina" userId="2033f5136aa55253" providerId="LiveId" clId="{70AC3D02-762B-42A9-A6F8-528CED61E437}" dt="2026-09-24T06:45:59.783" v="2" actId="20577"/>
        <pc:sldMkLst>
          <pc:docMk/>
          <pc:sldMk cId="983064656" sldId="256"/>
        </pc:sldMkLst>
        <pc:spChg chg="mod">
          <ac:chgData name="Tomáš Bratina" userId="2033f5136aa55253" providerId="LiveId" clId="{70AC3D02-762B-42A9-A6F8-528CED61E437}" dt="2026-09-24T06:45:59.783" v="2" actId="20577"/>
          <ac:spMkLst>
            <pc:docMk/>
            <pc:sldMk cId="983064656" sldId="256"/>
            <ac:spMk id="3" creationId="{8B4DB41A-A8EF-8DB6-E681-A810C6F48B4C}"/>
          </ac:spMkLst>
        </pc:spChg>
      </pc:sldChg>
    </pc:docChg>
  </pc:docChgLst>
  <pc:docChgLst>
    <pc:chgData name="Tomáš Bratina" userId="2033f5136aa55253" providerId="LiveId" clId="{8ECA8620-7B00-4EDA-805E-0BA470DD3A9F}"/>
    <pc:docChg chg="modSld">
      <pc:chgData name="Tomáš Bratina" userId="2033f5136aa55253" providerId="LiveId" clId="{8ECA8620-7B00-4EDA-805E-0BA470DD3A9F}" dt="2026-09-24T09:25:49.526" v="2" actId="20577"/>
      <pc:docMkLst>
        <pc:docMk/>
      </pc:docMkLst>
      <pc:sldChg chg="modSp mod">
        <pc:chgData name="Tomáš Bratina" userId="2033f5136aa55253" providerId="LiveId" clId="{8ECA8620-7B00-4EDA-805E-0BA470DD3A9F}" dt="2026-09-24T09:25:49.526" v="2" actId="20577"/>
        <pc:sldMkLst>
          <pc:docMk/>
          <pc:sldMk cId="2560736569" sldId="294"/>
        </pc:sldMkLst>
        <pc:spChg chg="mod">
          <ac:chgData name="Tomáš Bratina" userId="2033f5136aa55253" providerId="LiveId" clId="{8ECA8620-7B00-4EDA-805E-0BA470DD3A9F}" dt="2026-09-24T09:25:49.526" v="2" actId="20577"/>
          <ac:spMkLst>
            <pc:docMk/>
            <pc:sldMk cId="2560736569" sldId="294"/>
            <ac:spMk id="3" creationId="{7243AC0C-29B0-B2B9-70D4-517AA35F8F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mp3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6.mp3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8.mp3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8.mp3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10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5" Type="http://schemas.microsoft.com/office/2007/relationships/media" Target="../media/media11.mp3"/><Relationship Id="rId4" Type="http://schemas.openxmlformats.org/officeDocument/2006/relationships/audio" Target="../media/media10.mp3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06r4V5RYq6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25FB92-7CC1-521D-B6CE-A0F086AA5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B4DB41A-A8EF-8DB6-E681-A810C6F48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/>
              <a:t>24.09.2026</a:t>
            </a:r>
            <a:endParaRPr lang="sk-SK" b="0" dirty="0"/>
          </a:p>
        </p:txBody>
      </p:sp>
    </p:spTree>
    <p:extLst>
      <p:ext uri="{BB962C8B-B14F-4D97-AF65-F5344CB8AC3E}">
        <p14:creationId xmlns:p14="http://schemas.microsoft.com/office/powerpoint/2010/main" val="98306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D0C72-0AE2-4E42-5F06-93A09F7B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noProof="0" dirty="0"/>
              <a:t>Norské „u“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C4CCA6-F619-B476-C3D8-DD14EBFA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Vyslovujeme se zaokrouhlenými rty stejně jako německé </a:t>
            </a:r>
            <a:r>
              <a:rPr lang="cs-CZ" sz="2800" i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ü</a:t>
            </a: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cs-CZ" sz="2800" kern="1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 err="1">
                <a:solidFill>
                  <a:schemeClr val="accent1"/>
                </a:solidFill>
              </a:rPr>
              <a:t>hun</a:t>
            </a:r>
            <a:r>
              <a:rPr lang="cs-CZ" sz="2800" dirty="0"/>
              <a:t> [</a:t>
            </a:r>
            <a:r>
              <a:rPr lang="cs-CZ" sz="2800" dirty="0" err="1"/>
              <a:t>hʉn</a:t>
            </a:r>
            <a:r>
              <a:rPr lang="cs-CZ" sz="2800" dirty="0"/>
              <a:t>]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 err="1">
                <a:solidFill>
                  <a:schemeClr val="accent1"/>
                </a:solidFill>
              </a:rPr>
              <a:t>tusen</a:t>
            </a:r>
            <a:r>
              <a:rPr lang="cs-CZ" sz="2800" dirty="0"/>
              <a:t> [</a:t>
            </a:r>
            <a:r>
              <a:rPr lang="cs-CZ" sz="2800" dirty="0" err="1"/>
              <a:t>tʉːsən</a:t>
            </a:r>
            <a:r>
              <a:rPr lang="cs-CZ" sz="2800" dirty="0"/>
              <a:t>]</a:t>
            </a:r>
            <a:endParaRPr lang="sk-SK" sz="2500" dirty="0"/>
          </a:p>
        </p:txBody>
      </p:sp>
      <p:pic>
        <p:nvPicPr>
          <p:cNvPr id="4" name="hun">
            <a:hlinkClick r:id="" action="ppaction://media"/>
            <a:extLst>
              <a:ext uri="{FF2B5EF4-FFF2-40B4-BE49-F238E27FC236}">
                <a16:creationId xmlns:a16="http://schemas.microsoft.com/office/drawing/2014/main" id="{2F10897B-1135-4378-99BA-36D0B070E4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94485" y="3284621"/>
            <a:ext cx="609600" cy="609600"/>
          </a:xfrm>
          <a:prstGeom prst="rect">
            <a:avLst/>
          </a:prstGeom>
        </p:spPr>
      </p:pic>
      <p:pic>
        <p:nvPicPr>
          <p:cNvPr id="5" name="tusen">
            <a:hlinkClick r:id="" action="ppaction://media"/>
            <a:extLst>
              <a:ext uri="{FF2B5EF4-FFF2-40B4-BE49-F238E27FC236}">
                <a16:creationId xmlns:a16="http://schemas.microsoft.com/office/drawing/2014/main" id="{4202DE76-3052-01F6-0018-321EDE1FC32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94485" y="43113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4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984AF-1839-75BF-5F4E-BF351297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3C96FF-55D9-03D7-887C-8E8B46CE5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noProof="0" dirty="0"/>
              <a:t>Norské „</a:t>
            </a:r>
            <a:r>
              <a:rPr lang="cs-CZ" noProof="0" dirty="0"/>
              <a:t>y</a:t>
            </a:r>
            <a:r>
              <a:rPr lang="nb-NO" noProof="0" dirty="0"/>
              <a:t>“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243AC0C-29B0-B2B9-70D4-517AA35F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/>
              <a:t>Hláska zvukově velmi podobná předchozí, rozdíl je </a:t>
            </a:r>
            <a:r>
              <a:rPr lang="cs-CZ" sz="2800"/>
              <a:t>pro nás </a:t>
            </a:r>
            <a:r>
              <a:rPr lang="cs-CZ" sz="2800" dirty="0"/>
              <a:t>těžko postřehnutelný. Vyslovuje se velmi vpředu a uzavřeně, stejně jako </a:t>
            </a:r>
            <a:r>
              <a:rPr lang="cs-CZ" sz="2800" i="1" dirty="0"/>
              <a:t>i</a:t>
            </a:r>
            <a:r>
              <a:rPr lang="cs-CZ" sz="2800" dirty="0"/>
              <a:t>, jen musíme zaokrouhlit rty.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cs-CZ" sz="2800" kern="1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 err="1">
                <a:solidFill>
                  <a:schemeClr val="accent1"/>
                </a:solidFill>
              </a:rPr>
              <a:t>dyr</a:t>
            </a:r>
            <a:r>
              <a:rPr lang="cs-CZ" sz="2800" dirty="0"/>
              <a:t> [</a:t>
            </a:r>
            <a:r>
              <a:rPr lang="cs-CZ" sz="2800" dirty="0" err="1"/>
              <a:t>dʏːr</a:t>
            </a:r>
            <a:r>
              <a:rPr lang="cs-CZ" sz="2800" dirty="0"/>
              <a:t>]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 err="1">
                <a:solidFill>
                  <a:schemeClr val="accent1"/>
                </a:solidFill>
              </a:rPr>
              <a:t>syk</a:t>
            </a:r>
            <a:r>
              <a:rPr lang="cs-CZ" sz="2800" dirty="0"/>
              <a:t> [</a:t>
            </a:r>
            <a:r>
              <a:rPr lang="cs-CZ" sz="2800" dirty="0" err="1"/>
              <a:t>sʏːk</a:t>
            </a:r>
            <a:r>
              <a:rPr lang="cs-CZ" sz="2800" dirty="0"/>
              <a:t>]</a:t>
            </a:r>
            <a:endParaRPr lang="sk-SK" sz="2500" dirty="0"/>
          </a:p>
        </p:txBody>
      </p:sp>
      <p:pic>
        <p:nvPicPr>
          <p:cNvPr id="4" name="syk">
            <a:hlinkClick r:id="" action="ppaction://media"/>
            <a:extLst>
              <a:ext uri="{FF2B5EF4-FFF2-40B4-BE49-F238E27FC236}">
                <a16:creationId xmlns:a16="http://schemas.microsoft.com/office/drawing/2014/main" id="{60FE4E51-3B32-1B1A-8DEF-4A0F0F0150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95073" y="5129464"/>
            <a:ext cx="609600" cy="609600"/>
          </a:xfrm>
          <a:prstGeom prst="rect">
            <a:avLst/>
          </a:prstGeom>
        </p:spPr>
      </p:pic>
      <p:pic>
        <p:nvPicPr>
          <p:cNvPr id="5" name="dyr">
            <a:hlinkClick r:id="" action="ppaction://media"/>
            <a:extLst>
              <a:ext uri="{FF2B5EF4-FFF2-40B4-BE49-F238E27FC236}">
                <a16:creationId xmlns:a16="http://schemas.microsoft.com/office/drawing/2014/main" id="{300AD7DA-F7E5-3AA2-4793-460D35A9E31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79031" y="42154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3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8EFF-611B-F1D3-D180-4AD9DBF3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4E0E83-81AC-A67B-3974-79CE1AE1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noProof="0" dirty="0"/>
              <a:t>Norské „</a:t>
            </a:r>
            <a:r>
              <a:rPr lang="cs-CZ" noProof="0" dirty="0"/>
              <a:t>æ</a:t>
            </a:r>
            <a:r>
              <a:rPr lang="nb-NO" noProof="0" dirty="0"/>
              <a:t>“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EF8CF9-D0DF-C673-2917-EB0AFB2A3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/>
              <a:t>Vyslovuje se, jako bychom se chystali vyslovit </a:t>
            </a:r>
            <a:r>
              <a:rPr lang="cs-CZ" sz="2800" i="1" dirty="0"/>
              <a:t>a</a:t>
            </a:r>
            <a:r>
              <a:rPr lang="cs-CZ" sz="2800" dirty="0"/>
              <a:t>, ale místo toho řekneme </a:t>
            </a:r>
            <a:r>
              <a:rPr lang="cs-CZ" sz="2800" i="1" dirty="0"/>
              <a:t>e</a:t>
            </a:r>
            <a:r>
              <a:rPr lang="cs-CZ" sz="2800" dirty="0"/>
              <a:t>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cs-CZ" sz="2800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sz="2800" dirty="0">
                <a:solidFill>
                  <a:schemeClr val="accent1"/>
                </a:solidFill>
              </a:rPr>
              <a:t>vær</a:t>
            </a:r>
            <a:r>
              <a:rPr lang="cs-CZ" sz="2800" dirty="0">
                <a:solidFill>
                  <a:schemeClr val="accent1"/>
                </a:solidFill>
              </a:rPr>
              <a:t> </a:t>
            </a:r>
            <a:r>
              <a:rPr lang="cs-CZ" sz="2800" dirty="0"/>
              <a:t>[</a:t>
            </a:r>
            <a:r>
              <a:rPr lang="nb-NO" sz="2800" dirty="0"/>
              <a:t>væ</a:t>
            </a:r>
            <a:r>
              <a:rPr lang="cs-CZ" sz="2800" dirty="0"/>
              <a:t>ː</a:t>
            </a:r>
            <a:r>
              <a:rPr lang="nb-NO" sz="2800" dirty="0"/>
              <a:t>r</a:t>
            </a:r>
            <a:r>
              <a:rPr lang="cs-CZ" sz="2800" dirty="0"/>
              <a:t>]</a:t>
            </a:r>
            <a:r>
              <a:rPr lang="nb-NO" sz="2800" dirty="0"/>
              <a:t>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sz="2800" dirty="0">
                <a:solidFill>
                  <a:schemeClr val="accent1"/>
                </a:solidFill>
              </a:rPr>
              <a:t>nær</a:t>
            </a:r>
            <a:r>
              <a:rPr lang="cs-CZ" sz="2800" dirty="0"/>
              <a:t> [</a:t>
            </a:r>
            <a:r>
              <a:rPr lang="nb-NO" sz="2800" dirty="0"/>
              <a:t>næ</a:t>
            </a:r>
            <a:r>
              <a:rPr lang="cs-CZ" sz="2800" dirty="0"/>
              <a:t>ː</a:t>
            </a:r>
            <a:r>
              <a:rPr lang="nb-NO" sz="2800" dirty="0"/>
              <a:t>r</a:t>
            </a:r>
            <a:r>
              <a:rPr lang="cs-CZ" sz="2800" dirty="0"/>
              <a:t>]</a:t>
            </a:r>
            <a:endParaRPr lang="sk-SK" sz="2500" dirty="0"/>
          </a:p>
        </p:txBody>
      </p:sp>
      <p:pic>
        <p:nvPicPr>
          <p:cNvPr id="4" name="naer">
            <a:hlinkClick r:id="" action="ppaction://media"/>
            <a:extLst>
              <a:ext uri="{FF2B5EF4-FFF2-40B4-BE49-F238E27FC236}">
                <a16:creationId xmlns:a16="http://schemas.microsoft.com/office/drawing/2014/main" id="{884EF506-DBFD-D08B-016D-5AAD53DA86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89684" y="4487779"/>
            <a:ext cx="609600" cy="609600"/>
          </a:xfrm>
          <a:prstGeom prst="rect">
            <a:avLst/>
          </a:prstGeom>
        </p:spPr>
      </p:pic>
      <p:pic>
        <p:nvPicPr>
          <p:cNvPr id="5" name="vaer">
            <a:hlinkClick r:id="" action="ppaction://media"/>
            <a:extLst>
              <a:ext uri="{FF2B5EF4-FFF2-40B4-BE49-F238E27FC236}">
                <a16:creationId xmlns:a16="http://schemas.microsoft.com/office/drawing/2014/main" id="{74B39DF0-6D77-B531-7345-C64F55126EB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89684" y="360586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3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22A88-7192-406A-2249-A77A6CD1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7738B1-BBA8-419D-1F58-2126B986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b-NO" noProof="0" dirty="0"/>
              <a:t>Norské „</a:t>
            </a:r>
            <a:r>
              <a:rPr lang="cs-CZ" noProof="0" dirty="0"/>
              <a:t>ø</a:t>
            </a:r>
            <a:r>
              <a:rPr lang="nb-NO" noProof="0" dirty="0"/>
              <a:t>“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5A972F8-66A9-28B3-F2F9-15F29A8B2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/>
              <a:t>Výsledek je podobný německému </a:t>
            </a:r>
            <a:r>
              <a:rPr lang="cs-CZ" sz="2800" i="1" dirty="0"/>
              <a:t>ö</a:t>
            </a:r>
            <a:r>
              <a:rPr lang="cs-CZ" sz="2800" dirty="0"/>
              <a:t>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cs-CZ" sz="2800" kern="1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sz="2800" dirty="0">
                <a:solidFill>
                  <a:schemeClr val="accent1"/>
                </a:solidFill>
              </a:rPr>
              <a:t>søt</a:t>
            </a:r>
            <a:r>
              <a:rPr lang="nb-NO" sz="2800" dirty="0"/>
              <a:t> [s</a:t>
            </a:r>
            <a:r>
              <a:rPr lang="nb-NO" sz="2800" dirty="0">
                <a:latin typeface="+mj-lt"/>
              </a:rPr>
              <a:t>øːt</a:t>
            </a:r>
            <a:r>
              <a:rPr lang="nb-NO" sz="2800" dirty="0"/>
              <a:t>]</a:t>
            </a:r>
            <a:endParaRPr lang="cs-CZ" sz="2800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dirty="0">
                <a:solidFill>
                  <a:schemeClr val="accent1"/>
                </a:solidFill>
              </a:rPr>
              <a:t>f</a:t>
            </a:r>
            <a:r>
              <a:rPr lang="nb-NO" sz="2800" dirty="0">
                <a:solidFill>
                  <a:schemeClr val="accent1"/>
                </a:solidFill>
              </a:rPr>
              <a:t>ør </a:t>
            </a:r>
            <a:r>
              <a:rPr lang="nb-NO" sz="2800" dirty="0"/>
              <a:t>[føːr</a:t>
            </a:r>
            <a:r>
              <a:rPr lang="nb-NO" dirty="0"/>
              <a:t>] </a:t>
            </a:r>
            <a:endParaRPr lang="sk-SK" sz="2500" dirty="0"/>
          </a:p>
        </p:txBody>
      </p:sp>
      <p:pic>
        <p:nvPicPr>
          <p:cNvPr id="4" name="foer">
            <a:hlinkClick r:id="" action="ppaction://media"/>
            <a:extLst>
              <a:ext uri="{FF2B5EF4-FFF2-40B4-BE49-F238E27FC236}">
                <a16:creationId xmlns:a16="http://schemas.microsoft.com/office/drawing/2014/main" id="{A48CA0AB-B55D-9A41-30F8-F03D4E40CA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59243" y="4082796"/>
            <a:ext cx="609600" cy="609600"/>
          </a:xfrm>
          <a:prstGeom prst="rect">
            <a:avLst/>
          </a:prstGeom>
        </p:spPr>
      </p:pic>
      <p:pic>
        <p:nvPicPr>
          <p:cNvPr id="5" name="soet">
            <a:hlinkClick r:id="" action="ppaction://media"/>
            <a:extLst>
              <a:ext uri="{FF2B5EF4-FFF2-40B4-BE49-F238E27FC236}">
                <a16:creationId xmlns:a16="http://schemas.microsoft.com/office/drawing/2014/main" id="{C31FF3E1-0714-06C8-D124-B7164E3C278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59243" y="320088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C983-E30F-20BD-75CA-5688660F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45A92B-2ED8-C460-F8A3-A2A6D6D0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[ç]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E045D8-6FC0-9D9A-3694-C2E98DF9A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ki</a:t>
            </a: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ky</a:t>
            </a:r>
            <a:r>
              <a:rPr lang="cs-CZ" sz="28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cs-CZ" sz="2800" b="1" kern="100" dirty="0" err="1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kj</a:t>
            </a:r>
            <a:endParaRPr lang="cs-CZ" sz="2800" b="1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Nezvyklá hláska, kterou vytvoříme tak, že přiblížíme hřbet jazyka k patru a vzniklým zúžením proženeme proud vzduchu. 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Výsledek zní podobně jako v německém slově </a:t>
            </a:r>
            <a:r>
              <a:rPr lang="cs-CZ" sz="2700" b="1" i="1" kern="100" dirty="0" err="1">
                <a:solidFill>
                  <a:schemeClr val="accent1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ich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„K“</a:t>
            </a:r>
            <a:r>
              <a:rPr lang="cs-CZ" sz="2700" b="1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cs-CZ" sz="27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 jiných kombinacích je až na přídech podobné českému.</a:t>
            </a:r>
            <a:endParaRPr lang="sk-SK" sz="2700" kern="100" dirty="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2500" kern="100" dirty="0"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Gramatika současné norštiny (2015), Lingea</a:t>
            </a:r>
            <a:endParaRPr lang="sk-SK" sz="2500" dirty="0"/>
          </a:p>
        </p:txBody>
      </p:sp>
    </p:spTree>
    <p:extLst>
      <p:ext uri="{BB962C8B-B14F-4D97-AF65-F5344CB8AC3E}">
        <p14:creationId xmlns:p14="http://schemas.microsoft.com/office/powerpoint/2010/main" val="323151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D1E8-2026-CBD3-D254-9BA708D6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5951FB-322C-4266-B11B-61BEA738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k-SK" dirty="0"/>
              <a:t>[ç]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925078A-1D02-A20A-2684-D488520D0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nb-NO" sz="2500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dirty="0">
                <a:solidFill>
                  <a:schemeClr val="accent1"/>
                </a:solidFill>
              </a:rPr>
              <a:t>kjent</a:t>
            </a:r>
            <a:r>
              <a:rPr lang="nb-NO" dirty="0"/>
              <a:t> </a:t>
            </a:r>
            <a:r>
              <a:rPr lang="cs-CZ" dirty="0"/>
              <a:t>[</a:t>
            </a:r>
            <a:r>
              <a:rPr lang="cs-CZ" dirty="0" err="1"/>
              <a:t>çent</a:t>
            </a:r>
            <a:r>
              <a:rPr lang="cs-CZ" dirty="0"/>
              <a:t>]</a:t>
            </a:r>
            <a:r>
              <a:rPr lang="nb-NO" dirty="0"/>
              <a:t>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dirty="0">
                <a:solidFill>
                  <a:schemeClr val="accent1"/>
                </a:solidFill>
              </a:rPr>
              <a:t>Kina </a:t>
            </a:r>
            <a:r>
              <a:rPr lang="nb-NO" dirty="0"/>
              <a:t>[</a:t>
            </a:r>
            <a:r>
              <a:rPr lang="cs-CZ" dirty="0"/>
              <a:t>ç</a:t>
            </a:r>
            <a:r>
              <a:rPr lang="nb-NO" dirty="0"/>
              <a:t>iːn</a:t>
            </a:r>
            <a:r>
              <a:rPr lang="cs-CZ" dirty="0"/>
              <a:t>ɑ</a:t>
            </a:r>
            <a:r>
              <a:rPr lang="nb-NO" sz="2800" dirty="0"/>
              <a:t>] </a:t>
            </a:r>
            <a:endParaRPr lang="sk-SK" dirty="0"/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nb-NO" sz="2500" dirty="0">
                <a:solidFill>
                  <a:schemeClr val="accent1"/>
                </a:solidFill>
              </a:rPr>
              <a:t>kjær</a:t>
            </a:r>
            <a:r>
              <a:rPr lang="nb-NO" sz="2500" dirty="0"/>
              <a:t> </a:t>
            </a:r>
            <a:r>
              <a:rPr lang="cs-CZ" dirty="0"/>
              <a:t>[ç</a:t>
            </a:r>
            <a:r>
              <a:rPr lang="nb-NO" dirty="0"/>
              <a:t>æ</a:t>
            </a:r>
            <a:r>
              <a:rPr lang="cs-CZ" dirty="0"/>
              <a:t>ː</a:t>
            </a:r>
            <a:r>
              <a:rPr lang="nb-NO" dirty="0"/>
              <a:t>r</a:t>
            </a:r>
            <a:r>
              <a:rPr lang="cs-CZ" dirty="0"/>
              <a:t>]</a:t>
            </a:r>
            <a:r>
              <a:rPr lang="nb-NO" dirty="0"/>
              <a:t> </a:t>
            </a:r>
            <a:endParaRPr lang="sk-SK" sz="2500" dirty="0"/>
          </a:p>
        </p:txBody>
      </p:sp>
      <p:pic>
        <p:nvPicPr>
          <p:cNvPr id="4" name="kjent">
            <a:hlinkClick r:id="" action="ppaction://media"/>
            <a:extLst>
              <a:ext uri="{FF2B5EF4-FFF2-40B4-BE49-F238E27FC236}">
                <a16:creationId xmlns:a16="http://schemas.microsoft.com/office/drawing/2014/main" id="{2745CC4F-1412-86FA-E859-AAA6789451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1152" y="2612136"/>
            <a:ext cx="609600" cy="609600"/>
          </a:xfrm>
          <a:prstGeom prst="rect">
            <a:avLst/>
          </a:prstGeom>
        </p:spPr>
      </p:pic>
      <p:pic>
        <p:nvPicPr>
          <p:cNvPr id="5" name="Kina">
            <a:hlinkClick r:id="" action="ppaction://media"/>
            <a:extLst>
              <a:ext uri="{FF2B5EF4-FFF2-40B4-BE49-F238E27FC236}">
                <a16:creationId xmlns:a16="http://schemas.microsoft.com/office/drawing/2014/main" id="{9849DA62-4398-16EB-E3F9-CD042C6C61C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1152" y="3313812"/>
            <a:ext cx="609600" cy="609600"/>
          </a:xfrm>
          <a:prstGeom prst="rect">
            <a:avLst/>
          </a:prstGeom>
        </p:spPr>
      </p:pic>
      <p:pic>
        <p:nvPicPr>
          <p:cNvPr id="6" name="kjaer">
            <a:hlinkClick r:id="" action="ppaction://media"/>
            <a:extLst>
              <a:ext uri="{FF2B5EF4-FFF2-40B4-BE49-F238E27FC236}">
                <a16:creationId xmlns:a16="http://schemas.microsoft.com/office/drawing/2014/main" id="{008C9CBB-4327-BFE8-6637-ABBB66D0D0E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21152" y="40407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2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80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EB8441-68BE-9203-33D5-6E50B897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Jazykolam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EDA821-B7B9-D104-3838-F8493C262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u="sng" dirty="0">
                <a:hlinkClick r:id="rId2"/>
              </a:rPr>
              <a:t>https://www.youtube.com/watch?v=06r4V5RYq6c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180152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159</TotalTime>
  <Words>208</Words>
  <Application>Microsoft Office PowerPoint</Application>
  <PresentationFormat>Širokoúhlá obrazovka</PresentationFormat>
  <Paragraphs>33</Paragraphs>
  <Slides>8</Slides>
  <Notes>0</Notes>
  <HiddenSlides>0</HiddenSlides>
  <MMClips>11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1" baseType="lpstr">
      <vt:lpstr>Arial</vt:lpstr>
      <vt:lpstr>Avenir Next LT Pro</vt:lpstr>
      <vt:lpstr>ColorBlockVTI</vt:lpstr>
      <vt:lpstr>Norština pro začátečníky</vt:lpstr>
      <vt:lpstr>Norské „u“</vt:lpstr>
      <vt:lpstr>Norské „y“</vt:lpstr>
      <vt:lpstr>Norské „æ“</vt:lpstr>
      <vt:lpstr>Norské „ø“</vt:lpstr>
      <vt:lpstr>[ç]</vt:lpstr>
      <vt:lpstr>[ç]</vt:lpstr>
      <vt:lpstr>Jazykolam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2024-10-07T13:29:10Z</dcterms:created>
  <dcterms:modified xsi:type="dcterms:W3CDTF">2026-09-24T09:25:57Z</dcterms:modified>
</cp:coreProperties>
</file>