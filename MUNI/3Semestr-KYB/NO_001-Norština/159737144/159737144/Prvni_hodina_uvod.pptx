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0" r:id="rId5"/>
    <p:sldId id="259" r:id="rId6"/>
    <p:sldId id="301" r:id="rId7"/>
    <p:sldId id="260" r:id="rId8"/>
    <p:sldId id="302" r:id="rId9"/>
    <p:sldId id="261" r:id="rId10"/>
    <p:sldId id="303" r:id="rId11"/>
    <p:sldId id="299" r:id="rId12"/>
    <p:sldId id="262" r:id="rId13"/>
    <p:sldId id="304" r:id="rId14"/>
    <p:sldId id="2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8ECA8620-7B00-4EDA-805E-0BA470DD3A9F}"/>
    <pc:docChg chg="custSel addSld modSld">
      <pc:chgData name="Tomáš Bratina" userId="2033f5136aa55253" providerId="LiveId" clId="{8ECA8620-7B00-4EDA-805E-0BA470DD3A9F}" dt="2026-09-17T07:28:01.134" v="18" actId="5793"/>
      <pc:docMkLst>
        <pc:docMk/>
      </pc:docMkLst>
      <pc:sldChg chg="modSp mod">
        <pc:chgData name="Tomáš Bratina" userId="2033f5136aa55253" providerId="LiveId" clId="{8ECA8620-7B00-4EDA-805E-0BA470DD3A9F}" dt="2026-09-17T07:27:19.663" v="2" actId="20577"/>
        <pc:sldMkLst>
          <pc:docMk/>
          <pc:sldMk cId="983064656" sldId="256"/>
        </pc:sldMkLst>
        <pc:spChg chg="mod">
          <ac:chgData name="Tomáš Bratina" userId="2033f5136aa55253" providerId="LiveId" clId="{8ECA8620-7B00-4EDA-805E-0BA470DD3A9F}" dt="2026-09-17T07:27:19.663" v="2" actId="20577"/>
          <ac:spMkLst>
            <pc:docMk/>
            <pc:sldMk cId="983064656" sldId="256"/>
            <ac:spMk id="3" creationId="{8B4DB41A-A8EF-8DB6-E681-A810C6F48B4C}"/>
          </ac:spMkLst>
        </pc:spChg>
      </pc:sldChg>
      <pc:sldChg chg="modSp mod">
        <pc:chgData name="Tomáš Bratina" userId="2033f5136aa55253" providerId="LiveId" clId="{8ECA8620-7B00-4EDA-805E-0BA470DD3A9F}" dt="2026-09-17T07:27:27.836" v="5" actId="20577"/>
        <pc:sldMkLst>
          <pc:docMk/>
          <pc:sldMk cId="2304872028" sldId="258"/>
        </pc:sldMkLst>
        <pc:spChg chg="mod">
          <ac:chgData name="Tomáš Bratina" userId="2033f5136aa55253" providerId="LiveId" clId="{8ECA8620-7B00-4EDA-805E-0BA470DD3A9F}" dt="2026-09-17T07:27:27.836" v="5" actId="20577"/>
          <ac:spMkLst>
            <pc:docMk/>
            <pc:sldMk cId="2304872028" sldId="258"/>
            <ac:spMk id="3" creationId="{AF62173C-C2D2-F7C9-A66D-715BFDC12342}"/>
          </ac:spMkLst>
        </pc:spChg>
      </pc:sldChg>
      <pc:sldChg chg="modSp mod">
        <pc:chgData name="Tomáš Bratina" userId="2033f5136aa55253" providerId="LiveId" clId="{8ECA8620-7B00-4EDA-805E-0BA470DD3A9F}" dt="2026-09-17T07:27:34.260" v="7" actId="20577"/>
        <pc:sldMkLst>
          <pc:docMk/>
          <pc:sldMk cId="2597820306" sldId="259"/>
        </pc:sldMkLst>
        <pc:spChg chg="mod">
          <ac:chgData name="Tomáš Bratina" userId="2033f5136aa55253" providerId="LiveId" clId="{8ECA8620-7B00-4EDA-805E-0BA470DD3A9F}" dt="2026-09-17T07:27:34.260" v="7" actId="20577"/>
          <ac:spMkLst>
            <pc:docMk/>
            <pc:sldMk cId="2597820306" sldId="259"/>
            <ac:spMk id="3" creationId="{AF62173C-C2D2-F7C9-A66D-715BFDC12342}"/>
          </ac:spMkLst>
        </pc:spChg>
      </pc:sldChg>
      <pc:sldChg chg="modSp mod">
        <pc:chgData name="Tomáš Bratina" userId="2033f5136aa55253" providerId="LiveId" clId="{8ECA8620-7B00-4EDA-805E-0BA470DD3A9F}" dt="2026-09-17T07:27:41.809" v="11" actId="20577"/>
        <pc:sldMkLst>
          <pc:docMk/>
          <pc:sldMk cId="2027039866" sldId="260"/>
        </pc:sldMkLst>
        <pc:spChg chg="mod">
          <ac:chgData name="Tomáš Bratina" userId="2033f5136aa55253" providerId="LiveId" clId="{8ECA8620-7B00-4EDA-805E-0BA470DD3A9F}" dt="2026-09-17T07:27:41.809" v="11" actId="20577"/>
          <ac:spMkLst>
            <pc:docMk/>
            <pc:sldMk cId="2027039866" sldId="260"/>
            <ac:spMk id="3" creationId="{AF62173C-C2D2-F7C9-A66D-715BFDC12342}"/>
          </ac:spMkLst>
        </pc:spChg>
      </pc:sldChg>
      <pc:sldChg chg="modSp mod">
        <pc:chgData name="Tomáš Bratina" userId="2033f5136aa55253" providerId="LiveId" clId="{8ECA8620-7B00-4EDA-805E-0BA470DD3A9F}" dt="2026-09-17T07:27:50.304" v="13" actId="20577"/>
        <pc:sldMkLst>
          <pc:docMk/>
          <pc:sldMk cId="3634285779" sldId="261"/>
        </pc:sldMkLst>
        <pc:spChg chg="mod">
          <ac:chgData name="Tomáš Bratina" userId="2033f5136aa55253" providerId="LiveId" clId="{8ECA8620-7B00-4EDA-805E-0BA470DD3A9F}" dt="2026-09-17T07:27:50.304" v="13" actId="20577"/>
          <ac:spMkLst>
            <pc:docMk/>
            <pc:sldMk cId="3634285779" sldId="261"/>
            <ac:spMk id="3" creationId="{AF62173C-C2D2-F7C9-A66D-715BFDC12342}"/>
          </ac:spMkLst>
        </pc:spChg>
      </pc:sldChg>
      <pc:sldChg chg="modSp mod">
        <pc:chgData name="Tomáš Bratina" userId="2033f5136aa55253" providerId="LiveId" clId="{8ECA8620-7B00-4EDA-805E-0BA470DD3A9F}" dt="2026-09-17T07:28:01.134" v="18" actId="5793"/>
        <pc:sldMkLst>
          <pc:docMk/>
          <pc:sldMk cId="3071711766" sldId="262"/>
        </pc:sldMkLst>
        <pc:spChg chg="mod">
          <ac:chgData name="Tomáš Bratina" userId="2033f5136aa55253" providerId="LiveId" clId="{8ECA8620-7B00-4EDA-805E-0BA470DD3A9F}" dt="2026-09-17T07:28:01.134" v="18" actId="5793"/>
          <ac:spMkLst>
            <pc:docMk/>
            <pc:sldMk cId="3071711766" sldId="262"/>
            <ac:spMk id="3" creationId="{AF62173C-C2D2-F7C9-A66D-715BFDC12342}"/>
          </ac:spMkLst>
        </pc:spChg>
      </pc:sldChg>
      <pc:sldChg chg="add">
        <pc:chgData name="Tomáš Bratina" userId="2033f5136aa55253" providerId="LiveId" clId="{8ECA8620-7B00-4EDA-805E-0BA470DD3A9F}" dt="2026-09-17T07:27:25.127" v="3" actId="2890"/>
        <pc:sldMkLst>
          <pc:docMk/>
          <pc:sldMk cId="1064161781" sldId="300"/>
        </pc:sldMkLst>
      </pc:sldChg>
      <pc:sldChg chg="add">
        <pc:chgData name="Tomáš Bratina" userId="2033f5136aa55253" providerId="LiveId" clId="{8ECA8620-7B00-4EDA-805E-0BA470DD3A9F}" dt="2026-09-17T07:27:31.837" v="6" actId="2890"/>
        <pc:sldMkLst>
          <pc:docMk/>
          <pc:sldMk cId="776928816" sldId="301"/>
        </pc:sldMkLst>
      </pc:sldChg>
      <pc:sldChg chg="add">
        <pc:chgData name="Tomáš Bratina" userId="2033f5136aa55253" providerId="LiveId" clId="{8ECA8620-7B00-4EDA-805E-0BA470DD3A9F}" dt="2026-09-17T07:27:37.891" v="8" actId="2890"/>
        <pc:sldMkLst>
          <pc:docMk/>
          <pc:sldMk cId="2602700873" sldId="302"/>
        </pc:sldMkLst>
      </pc:sldChg>
      <pc:sldChg chg="add">
        <pc:chgData name="Tomáš Bratina" userId="2033f5136aa55253" providerId="LiveId" clId="{8ECA8620-7B00-4EDA-805E-0BA470DD3A9F}" dt="2026-09-17T07:27:47.619" v="12" actId="2890"/>
        <pc:sldMkLst>
          <pc:docMk/>
          <pc:sldMk cId="2113960937" sldId="303"/>
        </pc:sldMkLst>
      </pc:sldChg>
      <pc:sldChg chg="add">
        <pc:chgData name="Tomáš Bratina" userId="2033f5136aa55253" providerId="LiveId" clId="{8ECA8620-7B00-4EDA-805E-0BA470DD3A9F}" dt="2026-09-17T07:27:56.883" v="14" actId="2890"/>
        <pc:sldMkLst>
          <pc:docMk/>
          <pc:sldMk cId="1932512595" sldId="3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25FB92-7CC1-521D-B6CE-A0F086AA5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B4DB41A-A8EF-8DB6-E681-A810C6F48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1</a:t>
            </a:r>
            <a:r>
              <a:rPr lang="nb-NO" b="0" dirty="0"/>
              <a:t>7</a:t>
            </a:r>
            <a:r>
              <a:rPr lang="sk-SK" b="0" dirty="0"/>
              <a:t>.09.202</a:t>
            </a:r>
            <a:r>
              <a:rPr lang="nb-NO" b="0" dirty="0"/>
              <a:t>6</a:t>
            </a:r>
            <a:endParaRPr lang="sk-SK" b="0" dirty="0"/>
          </a:p>
        </p:txBody>
      </p:sp>
    </p:spTree>
    <p:extLst>
      <p:ext uri="{BB962C8B-B14F-4D97-AF65-F5344CB8AC3E}">
        <p14:creationId xmlns:p14="http://schemas.microsoft.com/office/powerpoint/2010/main" val="98306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CDAB8-2C9A-FB62-DF8D-38D3346B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62173C-C2D2-F7C9-A66D-715BFDC1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457200" indent="-457200">
              <a:buFont typeface="+mj-lt"/>
              <a:buAutoNum type="arabicPeriod"/>
            </a:pPr>
            <a:r>
              <a:rPr lang="cs-CZ" dirty="0"/>
              <a:t>Do které jazykové rodiny patří norština?</a:t>
            </a:r>
          </a:p>
          <a:p>
            <a:pPr marL="457200" indent="-457200">
              <a:buFont typeface="+mj-lt"/>
              <a:buAutoNum type="arabicPeriod"/>
            </a:pPr>
            <a:r>
              <a:rPr lang="cs-CZ" dirty="0"/>
              <a:t>Kolik lidí mluví norsky?</a:t>
            </a:r>
          </a:p>
          <a:p>
            <a:pPr marL="457200" indent="-457200">
              <a:buFont typeface="+mj-lt"/>
              <a:buAutoNum type="arabicPeriod"/>
            </a:pPr>
            <a:r>
              <a:rPr lang="cs-CZ" dirty="0"/>
              <a:t>Norština je specifická tím, že ačkoli jde o jeden jazyk, má dvě spisovné formy. Jak se jmenují a čím se liší?</a:t>
            </a:r>
          </a:p>
          <a:p>
            <a:pPr marL="457200" indent="-457200">
              <a:buFont typeface="+mj-lt"/>
              <a:buAutoNum type="arabicPeriod"/>
            </a:pPr>
            <a:r>
              <a:rPr lang="cs-CZ" dirty="0"/>
              <a:t>(Otázka navazuje na předchozí.) Která forma se používá víc?</a:t>
            </a:r>
          </a:p>
          <a:p>
            <a:pPr marL="457200" indent="-457200">
              <a:buFont typeface="+mj-lt"/>
              <a:buAutoNum type="arabicPeriod"/>
            </a:pPr>
            <a:r>
              <a:rPr lang="cs-CZ" dirty="0"/>
              <a:t>Norština má z lingvistického hlediska (minimálně) jednu zvláštnost. Která vás napadne?</a:t>
            </a:r>
          </a:p>
        </p:txBody>
      </p:sp>
    </p:spTree>
    <p:extLst>
      <p:ext uri="{BB962C8B-B14F-4D97-AF65-F5344CB8AC3E}">
        <p14:creationId xmlns:p14="http://schemas.microsoft.com/office/powerpoint/2010/main" val="344169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CDAB8-2C9A-FB62-DF8D-38D3346B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62173C-C2D2-F7C9-A66D-715BFDC1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457200" indent="-457200">
              <a:buFont typeface="+mj-lt"/>
              <a:buAutoNum type="arabicPeriod"/>
            </a:pPr>
            <a:endParaRPr lang="cs-CZ" dirty="0"/>
          </a:p>
          <a:p>
            <a:pPr marL="457200" indent="-457200">
              <a:buFont typeface="+mj-lt"/>
              <a:buAutoNum type="arabicPeriod"/>
            </a:pPr>
            <a:r>
              <a:rPr lang="cs-CZ" dirty="0"/>
              <a:t>Do které jazykové rodiny patří norština?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0487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E391-FFB2-B929-BC76-881E708E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04269D-4CCA-05F4-3091-D4B0A2B5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9EF3CD0-46F9-1764-FA16-031B19DCB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457200" indent="-457200">
              <a:buFont typeface="+mj-lt"/>
              <a:buAutoNum type="arabicPeriod"/>
            </a:pPr>
            <a:endParaRPr lang="cs-CZ" dirty="0"/>
          </a:p>
          <a:p>
            <a:pPr marL="457200" indent="-457200">
              <a:buFont typeface="+mj-lt"/>
              <a:buAutoNum type="arabicPeriod"/>
            </a:pPr>
            <a:r>
              <a:rPr lang="cs-CZ" dirty="0"/>
              <a:t>Do které jazykové rodiny patří norština?</a:t>
            </a:r>
          </a:p>
          <a:p>
            <a:pPr marL="0" indent="0">
              <a:buNone/>
            </a:pPr>
            <a:endParaRPr lang="cs-CZ" dirty="0"/>
          </a:p>
          <a:p>
            <a:pPr lvl="1"/>
            <a:r>
              <a:rPr lang="cs-CZ" sz="2400" dirty="0"/>
              <a:t>Indoevropské jazyky – germánské jazyky – severogermánské jazyky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6416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CDAB8-2C9A-FB62-DF8D-38D3346B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62173C-C2D2-F7C9-A66D-715BFDC1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457200" indent="-457200">
              <a:buFont typeface="+mj-lt"/>
              <a:buAutoNum type="arabicPeriod"/>
            </a:pPr>
            <a:endParaRPr lang="cs-CZ" dirty="0"/>
          </a:p>
          <a:p>
            <a:pPr marL="457200" indent="-457200">
              <a:buFont typeface="+mj-lt"/>
              <a:buAutoNum type="arabicPeriod" startAt="2"/>
            </a:pPr>
            <a:r>
              <a:rPr lang="cs-CZ" dirty="0"/>
              <a:t>Kolik lidí mluví norsky?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9782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EA24-F0C2-814C-E0C9-50E2D89C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BFE389-7433-32AE-76CD-7E02E794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67DF34-0B57-954D-8764-813915201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457200" indent="-457200">
              <a:buFont typeface="+mj-lt"/>
              <a:buAutoNum type="arabicPeriod"/>
            </a:pPr>
            <a:endParaRPr lang="cs-CZ" dirty="0"/>
          </a:p>
          <a:p>
            <a:pPr marL="457200" indent="-457200">
              <a:buFont typeface="+mj-lt"/>
              <a:buAutoNum type="arabicPeriod" startAt="2"/>
            </a:pPr>
            <a:r>
              <a:rPr lang="cs-CZ" dirty="0"/>
              <a:t>Kolik lidí mluví norsky?</a:t>
            </a:r>
          </a:p>
          <a:p>
            <a:pPr marL="0" indent="0">
              <a:buNone/>
            </a:pPr>
            <a:endParaRPr lang="cs-CZ" dirty="0"/>
          </a:p>
          <a:p>
            <a:pPr lvl="1"/>
            <a:r>
              <a:rPr lang="cs-CZ" sz="2400" dirty="0"/>
              <a:t>Přibližně 5 milionů.</a:t>
            </a:r>
          </a:p>
        </p:txBody>
      </p:sp>
    </p:spTree>
    <p:extLst>
      <p:ext uri="{BB962C8B-B14F-4D97-AF65-F5344CB8AC3E}">
        <p14:creationId xmlns:p14="http://schemas.microsoft.com/office/powerpoint/2010/main" val="77692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CDAB8-2C9A-FB62-DF8D-38D3346B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62173C-C2D2-F7C9-A66D-715BFDC1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457200" indent="-457200">
              <a:buFont typeface="+mj-lt"/>
              <a:buAutoNum type="arabicPeriod" startAt="3"/>
            </a:pPr>
            <a:endParaRPr lang="cs-CZ" dirty="0"/>
          </a:p>
          <a:p>
            <a:pPr marL="457200" indent="-457200">
              <a:buFont typeface="+mj-lt"/>
              <a:buAutoNum type="arabicPeriod" startAt="3"/>
            </a:pPr>
            <a:r>
              <a:rPr lang="cs-CZ" dirty="0"/>
              <a:t>Norština je specifická tím, že ačkoli jde o jeden jazyk, má dvě spisovné formy. Jak se jmenují a čím se liší?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7039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2F31-9082-78F2-555C-5E75BFBD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8C34C4-ACDA-7FA1-8F53-2B9D7FFA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FD8B0D-1DED-1336-5930-0BE2384C7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457200" indent="-457200">
              <a:buFont typeface="+mj-lt"/>
              <a:buAutoNum type="arabicPeriod" startAt="3"/>
            </a:pPr>
            <a:endParaRPr lang="cs-CZ" dirty="0"/>
          </a:p>
          <a:p>
            <a:pPr marL="457200" indent="-457200">
              <a:buFont typeface="+mj-lt"/>
              <a:buAutoNum type="arabicPeriod" startAt="3"/>
            </a:pPr>
            <a:r>
              <a:rPr lang="cs-CZ" dirty="0"/>
              <a:t>Norština je specifická tím, že ačkoli jde o jeden jazyk, má dvě spisovné formy. Jak se jmenují a čím se liší?</a:t>
            </a:r>
          </a:p>
          <a:p>
            <a:pPr marL="0" indent="0">
              <a:buNone/>
            </a:pPr>
            <a:endParaRPr lang="cs-CZ" dirty="0"/>
          </a:p>
          <a:p>
            <a:pPr lvl="1"/>
            <a:r>
              <a:rPr lang="cs-CZ" sz="2400" dirty="0"/>
              <a:t>Norština má dvě standardizované psané podoby</a:t>
            </a:r>
            <a:r>
              <a:rPr lang="sk-SK" sz="2400" dirty="0"/>
              <a:t>, </a:t>
            </a:r>
            <a:r>
              <a:rPr lang="sk-SK" sz="2400" dirty="0">
                <a:solidFill>
                  <a:schemeClr val="accent1"/>
                </a:solidFill>
                <a:effectLst/>
              </a:rPr>
              <a:t>bokmål</a:t>
            </a:r>
            <a:r>
              <a:rPr lang="sk-SK" sz="2400" dirty="0"/>
              <a:t> a </a:t>
            </a:r>
            <a:r>
              <a:rPr lang="sk-SK" sz="2400" dirty="0">
                <a:solidFill>
                  <a:schemeClr val="accent1"/>
                </a:solidFill>
                <a:effectLst/>
              </a:rPr>
              <a:t>nynorsk</a:t>
            </a:r>
            <a:r>
              <a:rPr lang="sk-SK" sz="2400" dirty="0"/>
              <a:t>.</a:t>
            </a:r>
          </a:p>
          <a:p>
            <a:pPr lvl="1">
              <a:buClr>
                <a:schemeClr val="tx1"/>
              </a:buClr>
            </a:pPr>
            <a:r>
              <a:rPr lang="sk-SK" sz="2400" dirty="0">
                <a:solidFill>
                  <a:schemeClr val="accent1"/>
                </a:solidFill>
              </a:rPr>
              <a:t>Bokmål</a:t>
            </a:r>
            <a:r>
              <a:rPr lang="sk-SK" sz="2400" dirty="0"/>
              <a:t> (</a:t>
            </a:r>
            <a:r>
              <a:rPr lang="cs-CZ" sz="2400" i="1" noProof="0" dirty="0"/>
              <a:t>knižní řeč</a:t>
            </a:r>
            <a:r>
              <a:rPr lang="sk-SK" sz="2400" dirty="0"/>
              <a:t>) </a:t>
            </a:r>
            <a:r>
              <a:rPr lang="cs-CZ" sz="2400" dirty="0"/>
              <a:t>lze označit za </a:t>
            </a:r>
            <a:r>
              <a:rPr lang="cs-CZ" sz="2400" dirty="0" err="1"/>
              <a:t>ponorštěnou</a:t>
            </a:r>
            <a:r>
              <a:rPr lang="cs-CZ" sz="2400" dirty="0"/>
              <a:t> dánštinu.</a:t>
            </a:r>
          </a:p>
          <a:p>
            <a:pPr lvl="1">
              <a:buClr>
                <a:schemeClr val="tx1"/>
              </a:buClr>
            </a:pPr>
            <a:r>
              <a:rPr lang="cs-CZ" sz="2400" dirty="0" err="1">
                <a:solidFill>
                  <a:schemeClr val="accent1"/>
                </a:solidFill>
              </a:rPr>
              <a:t>Nynorsk</a:t>
            </a:r>
            <a:r>
              <a:rPr lang="cs-CZ" sz="2400" dirty="0"/>
              <a:t> (</a:t>
            </a:r>
            <a:r>
              <a:rPr lang="cs-CZ" sz="2400" i="1" dirty="0"/>
              <a:t>nová norština</a:t>
            </a:r>
            <a:r>
              <a:rPr lang="sk-SK" sz="2400" dirty="0"/>
              <a:t>) </a:t>
            </a:r>
            <a:r>
              <a:rPr lang="cs-CZ" sz="2400" dirty="0"/>
              <a:t>vychází z venkovských nářečí, která si uchovala </a:t>
            </a:r>
            <a:r>
              <a:rPr lang="cs-CZ" sz="2400" dirty="0" err="1"/>
              <a:t>staronorské</a:t>
            </a:r>
            <a:r>
              <a:rPr lang="cs-CZ" sz="2400" dirty="0"/>
              <a:t> prvky</a:t>
            </a:r>
            <a:r>
              <a:rPr lang="sk-SK" sz="2400" dirty="0"/>
              <a:t>.</a:t>
            </a:r>
            <a:endParaRPr lang="cs-CZ" sz="2400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0270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CDAB8-2C9A-FB62-DF8D-38D3346B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62173C-C2D2-F7C9-A66D-715BFDC1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0" indent="0">
              <a:buNone/>
            </a:pPr>
            <a:endParaRPr lang="cs-CZ" b="1" dirty="0"/>
          </a:p>
          <a:p>
            <a:pPr marL="457200" indent="-457200">
              <a:buFont typeface="+mj-lt"/>
              <a:buAutoNum type="arabicPeriod" startAt="4"/>
            </a:pPr>
            <a:r>
              <a:rPr lang="cs-CZ" dirty="0"/>
              <a:t>(Otázka navazuje na předchozí.) Která forma se používá víc?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3428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BB54-FFB6-969C-D65F-CE8794E5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6BEE7E-4661-5DAC-BAD4-F193D390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4AAF93B-2D7E-C92C-63B0-3B80A770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0" indent="0">
              <a:buNone/>
            </a:pPr>
            <a:endParaRPr lang="cs-CZ" b="1" dirty="0"/>
          </a:p>
          <a:p>
            <a:pPr marL="457200" indent="-457200">
              <a:buFont typeface="+mj-lt"/>
              <a:buAutoNum type="arabicPeriod" startAt="4"/>
            </a:pPr>
            <a:r>
              <a:rPr lang="cs-CZ" dirty="0"/>
              <a:t>(Otázka navazuje na předchozí.) Která forma se používá víc?</a:t>
            </a:r>
          </a:p>
          <a:p>
            <a:pPr marL="0" indent="0">
              <a:buNone/>
            </a:pPr>
            <a:endParaRPr lang="cs-CZ" dirty="0"/>
          </a:p>
          <a:p>
            <a:pPr lvl="1">
              <a:buClr>
                <a:schemeClr val="tx1"/>
              </a:buClr>
            </a:pPr>
            <a:r>
              <a:rPr lang="cs-CZ" sz="2400" dirty="0" err="1">
                <a:solidFill>
                  <a:schemeClr val="accent1"/>
                </a:solidFill>
              </a:rPr>
              <a:t>Bokmål</a:t>
            </a:r>
            <a:r>
              <a:rPr lang="cs-CZ" sz="2400" dirty="0"/>
              <a:t> používá především obyvatelstvo velkých měst ve východní části země, přibližně 85–90 % všech obyvatel.</a:t>
            </a:r>
          </a:p>
          <a:p>
            <a:pPr lvl="1">
              <a:buClr>
                <a:schemeClr val="tx1"/>
              </a:buClr>
            </a:pPr>
            <a:r>
              <a:rPr lang="cs-CZ" sz="2400" dirty="0" err="1">
                <a:solidFill>
                  <a:schemeClr val="accent1"/>
                </a:solidFill>
              </a:rPr>
              <a:t>Nynorsk</a:t>
            </a:r>
            <a:r>
              <a:rPr lang="cs-CZ" sz="2400" dirty="0"/>
              <a:t> je rozšířen především v málo obydlených oblastech západní části země a tuto formu používá přibližně 10–15 % všech obyvatel. </a:t>
            </a:r>
          </a:p>
        </p:txBody>
      </p:sp>
    </p:spTree>
    <p:extLst>
      <p:ext uri="{BB962C8B-B14F-4D97-AF65-F5344CB8AC3E}">
        <p14:creationId xmlns:p14="http://schemas.microsoft.com/office/powerpoint/2010/main" val="2113960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18DAB1-4789-187B-07DE-020DFECF3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/>
              <a:t>Bokmål a nynorsk na základních školách v obcích pro školní rok 2021/22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77E71A5-E49B-3F55-E67E-D57C0BC09320}"/>
              </a:ext>
            </a:extLst>
          </p:cNvPr>
          <p:cNvSpPr txBox="1"/>
          <p:nvPr/>
        </p:nvSpPr>
        <p:spPr>
          <a:xfrm>
            <a:off x="647700" y="2286000"/>
            <a:ext cx="5575300" cy="3890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endParaRPr lang="cs-CZ" spc="-2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sz="2400" spc="-20" dirty="0"/>
              <a:t>modrá = </a:t>
            </a:r>
            <a:r>
              <a:rPr lang="cs-CZ" sz="2400" spc="-20" dirty="0" err="1"/>
              <a:t>bokmål</a:t>
            </a:r>
            <a:endParaRPr lang="cs-CZ" sz="2400" spc="-2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sz="2400" spc="-20" dirty="0"/>
              <a:t>tmavě červená = </a:t>
            </a:r>
            <a:r>
              <a:rPr lang="cs-CZ" sz="2400" spc="-20" dirty="0" err="1"/>
              <a:t>nynorsk</a:t>
            </a:r>
            <a:endParaRPr lang="cs-CZ" sz="2400" spc="-20" dirty="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CF622429-D691-9DAF-6CC2-63DAD5C3E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5997" y="349624"/>
            <a:ext cx="4243005" cy="60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6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CDAB8-2C9A-FB62-DF8D-38D3346B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62173C-C2D2-F7C9-A66D-715BFDC1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0" indent="0">
              <a:buNone/>
            </a:pPr>
            <a:endParaRPr lang="cs-CZ" b="1" dirty="0"/>
          </a:p>
          <a:p>
            <a:pPr marL="457200" indent="-457200">
              <a:buFont typeface="+mj-lt"/>
              <a:buAutoNum type="arabicPeriod" startAt="5"/>
            </a:pPr>
            <a:r>
              <a:rPr lang="cs-CZ" dirty="0"/>
              <a:t>Norština má z lingvistického hlediska (minimálně) jednu zvláštnost. Která vás napadne?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71711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FC87-0CC5-A82F-BBAA-0B3A9832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F0098F-C249-A815-B168-B5F839E3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norštině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672588-8BD7-7FFF-2331-3EB2CF77C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2020824"/>
            <a:ext cx="1130198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Odpovězte na otázky. Pracujte ve skupinách po třech.</a:t>
            </a:r>
          </a:p>
          <a:p>
            <a:pPr marL="0" indent="0">
              <a:buNone/>
            </a:pPr>
            <a:endParaRPr lang="cs-CZ" b="1" dirty="0"/>
          </a:p>
          <a:p>
            <a:pPr marL="457200" indent="-457200">
              <a:buFont typeface="+mj-lt"/>
              <a:buAutoNum type="arabicPeriod" startAt="5"/>
            </a:pPr>
            <a:r>
              <a:rPr lang="cs-CZ" dirty="0"/>
              <a:t>Norština má z lingvistického hlediska (minimálně) jednu zvláštnost. Která vás napadne?</a:t>
            </a:r>
          </a:p>
          <a:p>
            <a:pPr marL="457200" indent="-457200">
              <a:buFont typeface="+mj-lt"/>
              <a:buAutoNum type="arabicPeriod" startAt="5"/>
            </a:pPr>
            <a:endParaRPr lang="cs-CZ" dirty="0"/>
          </a:p>
          <a:p>
            <a:pPr lvl="1"/>
            <a:r>
              <a:rPr lang="cs-CZ" sz="2400" dirty="0"/>
              <a:t>dvě psané formy</a:t>
            </a:r>
          </a:p>
          <a:p>
            <a:pPr lvl="1"/>
            <a:r>
              <a:rPr lang="cs-CZ" sz="2400" dirty="0"/>
              <a:t>tónový jazyk</a:t>
            </a:r>
          </a:p>
          <a:p>
            <a:pPr lvl="1"/>
            <a:r>
              <a:rPr lang="cs-CZ" sz="2400" dirty="0"/>
              <a:t>dialekty…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3251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2D0C72-0AE2-4E42-5F06-93A09F7B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/>
              <a:t>[ç]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C4CCA6-F619-B476-C3D8-DD14EBFA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b="1" kern="100" dirty="0" err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ki</a:t>
            </a:r>
            <a:r>
              <a:rPr lang="cs-CZ" sz="28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cs-CZ" sz="2800" b="1" kern="100" dirty="0" err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ky</a:t>
            </a:r>
            <a:r>
              <a:rPr lang="cs-CZ" sz="28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cs-CZ" sz="2800" b="1" kern="100" dirty="0" err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kj</a:t>
            </a:r>
            <a:endParaRPr lang="cs-CZ" sz="28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7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Nezvyklá hláska, kterou vytvoříme tak, že přiblížíme hřbet jazyka k patru a vzniklým zúžením proženeme proud vzduchu. </a:t>
            </a:r>
            <a:r>
              <a:rPr lang="cs-CZ" sz="27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Výsledek zní podobně jako v německém slově </a:t>
            </a:r>
            <a:r>
              <a:rPr lang="cs-CZ" sz="2700" b="1" i="1" kern="100" dirty="0" err="1">
                <a:solidFill>
                  <a:schemeClr val="accent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ich</a:t>
            </a:r>
            <a:r>
              <a:rPr lang="cs-CZ" sz="27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cs-CZ" sz="27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„K“</a:t>
            </a:r>
            <a:r>
              <a:rPr lang="cs-CZ" sz="27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cs-CZ" sz="27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 jiných kombinacích je až na přídech podobné českému.</a:t>
            </a:r>
            <a:endParaRPr lang="sk-SK" sz="27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Gramatika současné norštiny (2015), Lingea</a:t>
            </a:r>
            <a:endParaRPr lang="sk-SK" sz="2500" dirty="0"/>
          </a:p>
        </p:txBody>
      </p:sp>
    </p:spTree>
    <p:extLst>
      <p:ext uri="{BB962C8B-B14F-4D97-AF65-F5344CB8AC3E}">
        <p14:creationId xmlns:p14="http://schemas.microsoft.com/office/powerpoint/2010/main" val="398546734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123</TotalTime>
  <Words>524</Words>
  <Application>Microsoft Office PowerPoint</Application>
  <PresentationFormat>Širokoúhlá obrazovka</PresentationFormat>
  <Paragraphs>72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7" baseType="lpstr">
      <vt:lpstr>Arial</vt:lpstr>
      <vt:lpstr>Avenir Next LT Pro</vt:lpstr>
      <vt:lpstr>ColorBlockVTI</vt:lpstr>
      <vt:lpstr>Norština pro začátečníky</vt:lpstr>
      <vt:lpstr>Základní informace o norštině</vt:lpstr>
      <vt:lpstr>Základní informace o norštině</vt:lpstr>
      <vt:lpstr>Základní informace o norštině</vt:lpstr>
      <vt:lpstr>Základní informace o norštině</vt:lpstr>
      <vt:lpstr>Základní informace o norštině</vt:lpstr>
      <vt:lpstr>Základní informace o norštině</vt:lpstr>
      <vt:lpstr>Základní informace o norštině</vt:lpstr>
      <vt:lpstr>Základní informace o norštině</vt:lpstr>
      <vt:lpstr>Základní informace o norštině</vt:lpstr>
      <vt:lpstr>Bokmål a nynorsk na základních školách v obcích pro školní rok 2021/22</vt:lpstr>
      <vt:lpstr>Základní informace o norštině</vt:lpstr>
      <vt:lpstr>Základní informace o norštině</vt:lpstr>
      <vt:lpstr>[ç]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2024-10-07T13:29:10Z</dcterms:created>
  <dcterms:modified xsi:type="dcterms:W3CDTF">2026-09-17T07:28:02Z</dcterms:modified>
</cp:coreProperties>
</file>