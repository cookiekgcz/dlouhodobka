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99" r:id="rId4"/>
    <p:sldId id="300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32796-4BDA-45B2-B63B-81AA8E9CAA06}" v="3" dt="2026-10-01T06:55:29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undo custSel modSld">
      <pc:chgData name="Tomáš Bratina" userId="2033f5136aa55253" providerId="LiveId" clId="{70AC3D02-762B-42A9-A6F8-528CED61E437}" dt="2026-10-01T06:55:37.016" v="92" actId="790"/>
      <pc:docMkLst>
        <pc:docMk/>
      </pc:docMkLst>
      <pc:sldChg chg="modSp mod">
        <pc:chgData name="Tomáš Bratina" userId="2033f5136aa55253" providerId="LiveId" clId="{70AC3D02-762B-42A9-A6F8-528CED61E437}" dt="2026-10-01T06:54:53.173" v="31" actId="20577"/>
        <pc:sldMkLst>
          <pc:docMk/>
          <pc:sldMk cId="983064656" sldId="256"/>
        </pc:sldMkLst>
        <pc:spChg chg="mod">
          <ac:chgData name="Tomáš Bratina" userId="2033f5136aa55253" providerId="LiveId" clId="{70AC3D02-762B-42A9-A6F8-528CED61E437}" dt="2026-10-01T06:54:53.173" v="31" actId="20577"/>
          <ac:spMkLst>
            <pc:docMk/>
            <pc:sldMk cId="983064656" sldId="256"/>
            <ac:spMk id="3" creationId="{8B4DB41A-A8EF-8DB6-E681-A810C6F48B4C}"/>
          </ac:spMkLst>
        </pc:spChg>
      </pc:sldChg>
      <pc:sldChg chg="addSp delSp modSp mod">
        <pc:chgData name="Tomáš Bratina" userId="2033f5136aa55253" providerId="LiveId" clId="{70AC3D02-762B-42A9-A6F8-528CED61E437}" dt="2026-10-01T06:53:56.182" v="29" actId="1076"/>
        <pc:sldMkLst>
          <pc:docMk/>
          <pc:sldMk cId="2697260385" sldId="298"/>
        </pc:sldMkLst>
        <pc:spChg chg="mod">
          <ac:chgData name="Tomáš Bratina" userId="2033f5136aa55253" providerId="LiveId" clId="{70AC3D02-762B-42A9-A6F8-528CED61E437}" dt="2026-10-01T06:53:53.425" v="28" actId="14100"/>
          <ac:spMkLst>
            <pc:docMk/>
            <pc:sldMk cId="2697260385" sldId="298"/>
            <ac:spMk id="2" creationId="{BD334BC5-72E2-DF48-6ECE-9349FCB00377}"/>
          </ac:spMkLst>
        </pc:spChg>
        <pc:spChg chg="del mod">
          <ac:chgData name="Tomáš Bratina" userId="2033f5136aa55253" providerId="LiveId" clId="{70AC3D02-762B-42A9-A6F8-528CED61E437}" dt="2026-10-01T06:53:43.307" v="25" actId="931"/>
          <ac:spMkLst>
            <pc:docMk/>
            <pc:sldMk cId="2697260385" sldId="298"/>
            <ac:spMk id="9" creationId="{445F91F7-43E5-98EC-901E-3BAC33BB53AA}"/>
          </ac:spMkLst>
        </pc:spChg>
        <pc:picChg chg="add mod ord">
          <ac:chgData name="Tomáš Bratina" userId="2033f5136aa55253" providerId="LiveId" clId="{70AC3D02-762B-42A9-A6F8-528CED61E437}" dt="2026-10-01T06:53:56.182" v="29" actId="1076"/>
          <ac:picMkLst>
            <pc:docMk/>
            <pc:sldMk cId="2697260385" sldId="298"/>
            <ac:picMk id="4" creationId="{CDFD8EDC-68D8-0F3D-882A-1752E463AD65}"/>
          </ac:picMkLst>
        </pc:picChg>
        <pc:picChg chg="del">
          <ac:chgData name="Tomáš Bratina" userId="2033f5136aa55253" providerId="LiveId" clId="{70AC3D02-762B-42A9-A6F8-528CED61E437}" dt="2026-10-01T06:53:30.931" v="23" actId="478"/>
          <ac:picMkLst>
            <pc:docMk/>
            <pc:sldMk cId="2697260385" sldId="298"/>
            <ac:picMk id="5" creationId="{77FDA13B-D6A1-6F26-C695-956299D24A3B}"/>
          </ac:picMkLst>
        </pc:picChg>
      </pc:sldChg>
      <pc:sldChg chg="modSp mod">
        <pc:chgData name="Tomáš Bratina" userId="2033f5136aa55253" providerId="LiveId" clId="{70AC3D02-762B-42A9-A6F8-528CED61E437}" dt="2026-10-01T06:55:37.016" v="92" actId="790"/>
        <pc:sldMkLst>
          <pc:docMk/>
          <pc:sldMk cId="2076471544" sldId="301"/>
        </pc:sldMkLst>
        <pc:spChg chg="mod">
          <ac:chgData name="Tomáš Bratina" userId="2033f5136aa55253" providerId="LiveId" clId="{70AC3D02-762B-42A9-A6F8-528CED61E437}" dt="2026-10-01T06:55:37.016" v="92" actId="790"/>
          <ac:spMkLst>
            <pc:docMk/>
            <pc:sldMk cId="2076471544" sldId="301"/>
            <ac:spMk id="3" creationId="{F642C328-EF3F-099F-EC3D-CFAB045B76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9tONNIa3mA" TargetMode="External"/><Relationship Id="rId2" Type="http://schemas.openxmlformats.org/officeDocument/2006/relationships/hyperlink" Target="https://www.youtube.com/watch?v=4VT3OBsI2f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10" Type="http://schemas.openxmlformats.org/officeDocument/2006/relationships/image" Target="../media/image1.png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f.ntnu.no/now/oral/0103b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25FB92-7CC1-521D-B6CE-A0F086AA5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B4DB41A-A8EF-8DB6-E681-A810C6F48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01.10.2026</a:t>
            </a:r>
          </a:p>
        </p:txBody>
      </p:sp>
    </p:spTree>
    <p:extLst>
      <p:ext uri="{BB962C8B-B14F-4D97-AF65-F5344CB8AC3E}">
        <p14:creationId xmlns:p14="http://schemas.microsoft.com/office/powerpoint/2010/main" val="98306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52E631-C120-FFDA-EF00-93C52085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Spørsmål og svar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642C328-EF3F-099F-EC3D-CFAB045B7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975104"/>
            <a:ext cx="10552176" cy="4197096"/>
          </a:xfrm>
        </p:spPr>
        <p:txBody>
          <a:bodyPr/>
          <a:lstStyle/>
          <a:p>
            <a:pPr marL="0" indent="0">
              <a:buNone/>
            </a:pPr>
            <a:r>
              <a:rPr lang="sk-SK" dirty="0">
                <a:hlinkClick r:id="rId2"/>
              </a:rPr>
              <a:t>https://www.youtube.com/watch?v=4VT3OBsI2f0</a:t>
            </a:r>
            <a:r>
              <a:rPr lang="sk-SK" dirty="0"/>
              <a:t> (</a:t>
            </a:r>
            <a:r>
              <a:rPr lang="cs-CZ" noProof="0" dirty="0"/>
              <a:t>základní fráze</a:t>
            </a:r>
            <a:r>
              <a:rPr lang="sk-SK" dirty="0"/>
              <a:t>)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>
                <a:hlinkClick r:id="rId3"/>
              </a:rPr>
              <a:t>https://www.youtube.com/watch?v=19tONNIa3mA</a:t>
            </a:r>
            <a:r>
              <a:rPr lang="nb-NO" dirty="0"/>
              <a:t>  </a:t>
            </a:r>
            <a:r>
              <a:rPr lang="sk-SK" dirty="0"/>
              <a:t>(</a:t>
            </a:r>
            <a:r>
              <a:rPr lang="cs-CZ" noProof="0" dirty="0"/>
              <a:t>zájmena</a:t>
            </a:r>
            <a:r>
              <a:rPr lang="sk-S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64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CD6730-EB36-C47B-19C6-A57A11F1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52780"/>
          </a:xfrm>
        </p:spPr>
        <p:txBody>
          <a:bodyPr/>
          <a:lstStyle/>
          <a:p>
            <a:pPr algn="ctr"/>
            <a:r>
              <a:rPr lang="sk-SK" dirty="0"/>
              <a:t>[ʈ]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138E1FF-0664-EB07-0672-AE34BC5C9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38528"/>
            <a:ext cx="10552176" cy="4197096"/>
          </a:xfrm>
        </p:spPr>
        <p:txBody>
          <a:bodyPr/>
          <a:lstStyle/>
          <a:p>
            <a:pPr marL="0" indent="0" algn="just">
              <a:buNone/>
            </a:pPr>
            <a:r>
              <a:rPr lang="cs-CZ" sz="3300" noProof="0" dirty="0"/>
              <a:t>„RT“ se v norštině nevyslovuje jako dvě hlásky [r]+[t], ale splyne do jedné zvláštní souhlásky.</a:t>
            </a:r>
            <a:endParaRPr lang="nb-NO" sz="3300" noProof="0"/>
          </a:p>
          <a:p>
            <a:pPr marL="0" indent="0" algn="just">
              <a:buNone/>
            </a:pPr>
            <a:endParaRPr lang="nb-NO" sz="3300" noProof="0"/>
          </a:p>
          <a:p>
            <a:pPr marL="0" indent="0" algn="just">
              <a:buNone/>
            </a:pPr>
            <a:r>
              <a:rPr lang="cs-CZ" sz="3300" noProof="0" dirty="0"/>
              <a:t>Představte si, že chcete vyslovit „t“, ale jazyk ohnete víc dozadu. Řeknete nejdřív „r“ a hned za tím „t“ – rychle, bez mezery.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6181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CD6730-EB36-C47B-19C6-A57A11F1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52780"/>
          </a:xfrm>
        </p:spPr>
        <p:txBody>
          <a:bodyPr/>
          <a:lstStyle/>
          <a:p>
            <a:pPr algn="ctr"/>
            <a:r>
              <a:rPr lang="sk-SK" dirty="0"/>
              <a:t>[ʈ]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138E1FF-0664-EB07-0672-AE34BC5C9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38528"/>
            <a:ext cx="10552176" cy="4197096"/>
          </a:xfrm>
        </p:spPr>
        <p:txBody>
          <a:bodyPr/>
          <a:lstStyle/>
          <a:p>
            <a:r>
              <a:rPr lang="nb-NO" dirty="0"/>
              <a:t>bort</a:t>
            </a:r>
          </a:p>
          <a:p>
            <a:endParaRPr lang="nb-NO" dirty="0"/>
          </a:p>
          <a:p>
            <a:r>
              <a:rPr lang="nb-NO" dirty="0"/>
              <a:t>fort</a:t>
            </a:r>
          </a:p>
          <a:p>
            <a:endParaRPr lang="nb-NO" dirty="0"/>
          </a:p>
          <a:p>
            <a:r>
              <a:rPr lang="nb-NO" i="1" dirty="0"/>
              <a:t>et </a:t>
            </a:r>
            <a:r>
              <a:rPr lang="nb-NO" dirty="0"/>
              <a:t>kart</a:t>
            </a:r>
          </a:p>
          <a:p>
            <a:endParaRPr lang="nb-NO" dirty="0"/>
          </a:p>
          <a:p>
            <a:r>
              <a:rPr lang="nb-NO" dirty="0"/>
              <a:t>svart  </a:t>
            </a:r>
            <a:endParaRPr lang="sk-SK" dirty="0"/>
          </a:p>
          <a:p>
            <a:endParaRPr lang="sk-SK" dirty="0"/>
          </a:p>
        </p:txBody>
      </p:sp>
      <p:pic>
        <p:nvPicPr>
          <p:cNvPr id="4" name="bort">
            <a:hlinkClick r:id="" action="ppaction://media"/>
            <a:extLst>
              <a:ext uri="{FF2B5EF4-FFF2-40B4-BE49-F238E27FC236}">
                <a16:creationId xmlns:a16="http://schemas.microsoft.com/office/drawing/2014/main" id="{D109EA3A-B0DE-8AD8-6A9A-0917641048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453640" y="1938528"/>
            <a:ext cx="609600" cy="609600"/>
          </a:xfrm>
          <a:prstGeom prst="rect">
            <a:avLst/>
          </a:prstGeom>
        </p:spPr>
      </p:pic>
      <p:pic>
        <p:nvPicPr>
          <p:cNvPr id="5" name="fort">
            <a:hlinkClick r:id="" action="ppaction://media"/>
            <a:extLst>
              <a:ext uri="{FF2B5EF4-FFF2-40B4-BE49-F238E27FC236}">
                <a16:creationId xmlns:a16="http://schemas.microsoft.com/office/drawing/2014/main" id="{856E602E-2E40-98B9-EA95-C44635437D9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450592" y="2941320"/>
            <a:ext cx="609600" cy="609600"/>
          </a:xfrm>
          <a:prstGeom prst="rect">
            <a:avLst/>
          </a:prstGeom>
        </p:spPr>
      </p:pic>
      <p:pic>
        <p:nvPicPr>
          <p:cNvPr id="6" name="et_kart">
            <a:hlinkClick r:id="" action="ppaction://media"/>
            <a:extLst>
              <a:ext uri="{FF2B5EF4-FFF2-40B4-BE49-F238E27FC236}">
                <a16:creationId xmlns:a16="http://schemas.microsoft.com/office/drawing/2014/main" id="{CECEEA17-4FE1-7F85-BE80-5B505BA76AD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450592" y="4037076"/>
            <a:ext cx="609600" cy="609600"/>
          </a:xfrm>
          <a:prstGeom prst="rect">
            <a:avLst/>
          </a:prstGeom>
        </p:spPr>
      </p:pic>
      <p:pic>
        <p:nvPicPr>
          <p:cNvPr id="7" name="svart">
            <a:hlinkClick r:id="" action="ppaction://media"/>
            <a:extLst>
              <a:ext uri="{FF2B5EF4-FFF2-40B4-BE49-F238E27FC236}">
                <a16:creationId xmlns:a16="http://schemas.microsoft.com/office/drawing/2014/main" id="{542D9DB3-50B2-7724-E260-3B6F3D609553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450592" y="50497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4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3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1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680AA7-D34E-4B52-8E70-12329065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024CF-5512-41E3-8BD3-A3A274013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dpis 8">
            <a:extLst>
              <a:ext uri="{FF2B5EF4-FFF2-40B4-BE49-F238E27FC236}">
                <a16:creationId xmlns:a16="http://schemas.microsoft.com/office/drawing/2014/main" id="{37278956-9D6F-E844-0C4B-D31AECE9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696" y="269507"/>
            <a:ext cx="10520080" cy="722594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Referendum o rozpuštění unie se Švédskem (1905)</a:t>
            </a:r>
          </a:p>
        </p:txBody>
      </p:sp>
      <p:pic>
        <p:nvPicPr>
          <p:cNvPr id="7" name="Obrázok 6" descr="Obrázok, na ktorom je papierový výrobok, text, papier, nalepovacie lístočky&#10;&#10;Automaticky generovaný popis">
            <a:extLst>
              <a:ext uri="{FF2B5EF4-FFF2-40B4-BE49-F238E27FC236}">
                <a16:creationId xmlns:a16="http://schemas.microsoft.com/office/drawing/2014/main" id="{CEA05997-057D-EB54-92C3-D56F64518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1" b="22559"/>
          <a:stretch/>
        </p:blipFill>
        <p:spPr>
          <a:xfrm>
            <a:off x="20" y="1150466"/>
            <a:ext cx="5067279" cy="2877247"/>
          </a:xfrm>
          <a:prstGeom prst="rect">
            <a:avLst/>
          </a:prstGeom>
        </p:spPr>
      </p:pic>
      <p:pic>
        <p:nvPicPr>
          <p:cNvPr id="5" name="Zástupný objekt pre obsah 4" descr="Obrázok, na ktorom je text, písmo, plagát, grafika&#10;&#10;Automaticky generovaný popis">
            <a:extLst>
              <a:ext uri="{FF2B5EF4-FFF2-40B4-BE49-F238E27FC236}">
                <a16:creationId xmlns:a16="http://schemas.microsoft.com/office/drawing/2014/main" id="{4BC24AE5-A4C4-D96C-16ED-6C83E311E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4" r="-2" b="3372"/>
          <a:stretch/>
        </p:blipFill>
        <p:spPr>
          <a:xfrm>
            <a:off x="20" y="4027714"/>
            <a:ext cx="5067279" cy="283028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672CD0-4A52-B8C4-3985-207DB8D5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764" y="1697317"/>
            <a:ext cx="5654012" cy="4479645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sk-SK" dirty="0"/>
          </a:p>
          <a:p>
            <a:pPr marL="0" indent="0">
              <a:lnSpc>
                <a:spcPct val="200000"/>
              </a:lnSpc>
              <a:buNone/>
            </a:pPr>
            <a:r>
              <a:rPr lang="sk-SK" b="1" dirty="0"/>
              <a:t>Pro</a:t>
            </a:r>
            <a:r>
              <a:rPr lang="sk-SK" dirty="0"/>
              <a:t> 368 208 (99.95 %)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sk-SK" b="1" dirty="0"/>
              <a:t>Proti </a:t>
            </a:r>
            <a:r>
              <a:rPr lang="sk-SK" dirty="0"/>
              <a:t>184 (0.05 %)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0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54005083-1151-4AA0-B5A5-E5612B2B2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320189-8290-2572-117B-FFD25745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62" y="274320"/>
            <a:ext cx="10424162" cy="65621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Dánský princ Karel</a:t>
            </a:r>
          </a:p>
        </p:txBody>
      </p:sp>
      <p:pic>
        <p:nvPicPr>
          <p:cNvPr id="5" name="Zástupný objekt pre obsah 4" descr="Obrázok, na ktorom je osoba, ošatenie, ľudská tvár, chlap&#10;&#10;Automaticky generovaný popis">
            <a:extLst>
              <a:ext uri="{FF2B5EF4-FFF2-40B4-BE49-F238E27FC236}">
                <a16:creationId xmlns:a16="http://schemas.microsoft.com/office/drawing/2014/main" id="{0EAAEC94-B22B-8E4B-4437-D51E2B3C5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45"/>
          <a:stretch/>
        </p:blipFill>
        <p:spPr>
          <a:xfrm>
            <a:off x="1" y="1150467"/>
            <a:ext cx="4076699" cy="5707533"/>
          </a:xfrm>
          <a:prstGeom prst="rect">
            <a:avLst/>
          </a:prstGeom>
        </p:spPr>
      </p:pic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3D1DC933-C53B-A119-EFAC-EB9A600B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1844937"/>
            <a:ext cx="6657190" cy="43320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Po schválení nezávislosti se však objevila otázka, jaké zřízení by Norsko mělo mít. Vládní elity podporovaly </a:t>
            </a:r>
            <a:r>
              <a:rPr lang="cs-CZ" b="1" dirty="0">
                <a:effectLst/>
                <a:latin typeface="+mj-lt"/>
                <a:ea typeface="Aptos" panose="020B0004020202020204" pitchFamily="34" charset="0"/>
              </a:rPr>
              <a:t>monarchii</a:t>
            </a: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, a proto oslovily </a:t>
            </a:r>
            <a:r>
              <a:rPr lang="cs-CZ" b="1" dirty="0">
                <a:effectLst/>
                <a:latin typeface="+mj-lt"/>
                <a:ea typeface="Aptos" panose="020B0004020202020204" pitchFamily="34" charset="0"/>
              </a:rPr>
              <a:t>dánského prince Karla</a:t>
            </a: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, vnuka tehdejšího dánského krále.</a:t>
            </a:r>
          </a:p>
          <a:p>
            <a:pPr marL="0" indent="0" algn="just">
              <a:buNone/>
            </a:pPr>
            <a:r>
              <a:rPr lang="cs-CZ" dirty="0">
                <a:effectLst/>
                <a:latin typeface="+mj-lt"/>
                <a:ea typeface="Aptos" panose="020B0004020202020204" pitchFamily="34" charset="0"/>
              </a:rPr>
              <a:t>(Kromě kulturní a historické blízkosti Dánska hrála při výběru prince Karla roli i skutečnost, že jeho manželka Maud byla dcerou anglického krále Eduarda VII. Z hlediska geopolitiky šlo o strategický krok.)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973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89ADC-6D9D-F844-4A35-510B06E7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F680AA7-D34E-4B52-8E70-12329065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0024CF-5512-41E3-8BD3-A3A274013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adpis 8">
            <a:extLst>
              <a:ext uri="{FF2B5EF4-FFF2-40B4-BE49-F238E27FC236}">
                <a16:creationId xmlns:a16="http://schemas.microsoft.com/office/drawing/2014/main" id="{908135A5-71D6-458D-6498-847A064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696" y="269507"/>
            <a:ext cx="10520080" cy="722594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Norské referendum o monarchii (1905)</a:t>
            </a:r>
          </a:p>
        </p:txBody>
      </p:sp>
      <p:pic>
        <p:nvPicPr>
          <p:cNvPr id="6" name="Obrázok 5" descr="Obrázok, na ktorom je čierno-biela, stôl, nábytok, budova&#10;&#10;Automaticky generovaný popis">
            <a:extLst>
              <a:ext uri="{FF2B5EF4-FFF2-40B4-BE49-F238E27FC236}">
                <a16:creationId xmlns:a16="http://schemas.microsoft.com/office/drawing/2014/main" id="{80D5ECD0-419A-CA40-3701-9A1FD2797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8" r="-2" b="15283"/>
          <a:stretch/>
        </p:blipFill>
        <p:spPr>
          <a:xfrm>
            <a:off x="20" y="1150466"/>
            <a:ext cx="5067279" cy="2877247"/>
          </a:xfrm>
          <a:prstGeom prst="rect">
            <a:avLst/>
          </a:prstGeom>
        </p:spPr>
      </p:pic>
      <p:pic>
        <p:nvPicPr>
          <p:cNvPr id="3" name="Obrázok 2" descr="Obrázok, na ktorom je štvorec, snímka obrazovky, nalepovacie lístočky, umenie&#10;&#10;Automaticky generovaný popis">
            <a:extLst>
              <a:ext uri="{FF2B5EF4-FFF2-40B4-BE49-F238E27FC236}">
                <a16:creationId xmlns:a16="http://schemas.microsoft.com/office/drawing/2014/main" id="{724F673E-7424-F118-CB3E-BD40D1075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" r="-2" b="6707"/>
          <a:stretch/>
        </p:blipFill>
        <p:spPr>
          <a:xfrm>
            <a:off x="20" y="4027714"/>
            <a:ext cx="5067279" cy="283028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2A080E8-34DD-288A-A28A-D859CA38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764" y="1697317"/>
            <a:ext cx="5654012" cy="44796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b="1" dirty="0"/>
              <a:t>Pro</a:t>
            </a:r>
            <a:r>
              <a:rPr lang="sk-SK" dirty="0"/>
              <a:t> 259 563 (78.94 %)</a:t>
            </a:r>
          </a:p>
          <a:p>
            <a:pPr marL="0" indent="0">
              <a:buNone/>
            </a:pPr>
            <a:r>
              <a:rPr lang="sk-SK" b="1" dirty="0"/>
              <a:t>Proti </a:t>
            </a:r>
            <a:r>
              <a:rPr lang="sk-SK" dirty="0"/>
              <a:t>69 264 (21.06 %)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1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CEDF55B-0D10-4377-A610-3ECDC2BEF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718DDB-43B9-476D-AB6F-D86C8CF2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977" y="0"/>
            <a:ext cx="7154023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65EC5F-0795-7DAD-1CE1-766F6E0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041" y="365124"/>
            <a:ext cx="5837337" cy="1564685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Korunovace</a:t>
            </a:r>
          </a:p>
        </p:txBody>
      </p:sp>
      <p:pic>
        <p:nvPicPr>
          <p:cNvPr id="5" name="Zástupný objekt pre obsah 4" descr="Obrázok, na ktorom je ošatenie, osoba, retro štýl, návrh kostýmu&#10;&#10;Automaticky generovaný popis">
            <a:extLst>
              <a:ext uri="{FF2B5EF4-FFF2-40B4-BE49-F238E27FC236}">
                <a16:creationId xmlns:a16="http://schemas.microsoft.com/office/drawing/2014/main" id="{C4242512-60C4-091B-7AF5-9D474A715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6"/>
          <a:stretch/>
        </p:blipFill>
        <p:spPr>
          <a:xfrm>
            <a:off x="20" y="10"/>
            <a:ext cx="5067279" cy="685799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7F29CF-920A-CBDD-CD34-02DBFA44E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236" y="2737821"/>
            <a:ext cx="5710142" cy="346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Král </a:t>
            </a:r>
            <a:r>
              <a:rPr lang="cs-CZ" b="1" dirty="0" err="1"/>
              <a:t>Haakon</a:t>
            </a:r>
            <a:r>
              <a:rPr lang="cs-CZ" b="1" dirty="0"/>
              <a:t> VII.</a:t>
            </a:r>
            <a:r>
              <a:rPr lang="cs-CZ" dirty="0"/>
              <a:t> a královna </a:t>
            </a:r>
            <a:r>
              <a:rPr lang="cs-CZ" b="1" dirty="0"/>
              <a:t>Maud</a:t>
            </a:r>
            <a:r>
              <a:rPr lang="cs-CZ" dirty="0"/>
              <a:t> v korunovační den 22. června 1906.</a:t>
            </a:r>
          </a:p>
        </p:txBody>
      </p:sp>
    </p:spTree>
    <p:extLst>
      <p:ext uri="{BB962C8B-B14F-4D97-AF65-F5344CB8AC3E}">
        <p14:creationId xmlns:p14="http://schemas.microsoft.com/office/powerpoint/2010/main" val="4174054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7F81F5-0021-A089-4914-6F9BB60E2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06476"/>
          </a:xfrm>
        </p:spPr>
        <p:txBody>
          <a:bodyPr/>
          <a:lstStyle/>
          <a:p>
            <a:r>
              <a:rPr lang="sk-SK" b="1" dirty="0" err="1"/>
              <a:t>Nidaroský</a:t>
            </a:r>
            <a:r>
              <a:rPr lang="sk-SK" b="1" dirty="0"/>
              <a:t> dóm</a:t>
            </a:r>
            <a:endParaRPr lang="sk-SK" dirty="0"/>
          </a:p>
        </p:txBody>
      </p:sp>
      <p:pic>
        <p:nvPicPr>
          <p:cNvPr id="5" name="Zástupný objekt pre obsah 4" descr="Obrázok, na ktorom je exteriér, oblak, nebo, budova&#10;&#10;Automaticky generovaný popis">
            <a:extLst>
              <a:ext uri="{FF2B5EF4-FFF2-40B4-BE49-F238E27FC236}">
                <a16:creationId xmlns:a16="http://schemas.microsoft.com/office/drawing/2014/main" id="{7B70E93E-4D7A-10C5-2D41-49A1A3812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894" y="1984375"/>
            <a:ext cx="4172899" cy="4197350"/>
          </a:xfrm>
        </p:spPr>
      </p:pic>
    </p:spTree>
    <p:extLst>
      <p:ext uri="{BB962C8B-B14F-4D97-AF65-F5344CB8AC3E}">
        <p14:creationId xmlns:p14="http://schemas.microsoft.com/office/powerpoint/2010/main" val="216882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448806-6042-DA08-6ADE-938226A2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20331"/>
          </a:xfrm>
        </p:spPr>
        <p:txBody>
          <a:bodyPr/>
          <a:lstStyle/>
          <a:p>
            <a:r>
              <a:rPr lang="sk-SK" dirty="0" err="1"/>
              <a:t>Haakon</a:t>
            </a:r>
            <a:r>
              <a:rPr lang="sk-SK" dirty="0"/>
              <a:t>, </a:t>
            </a:r>
            <a:r>
              <a:rPr lang="sk-SK" dirty="0" err="1"/>
              <a:t>Maud</a:t>
            </a:r>
            <a:r>
              <a:rPr lang="sk-SK" dirty="0"/>
              <a:t> a </a:t>
            </a:r>
            <a:r>
              <a:rPr lang="sk-SK" dirty="0" err="1"/>
              <a:t>Olaf</a:t>
            </a:r>
            <a:endParaRPr lang="sk-SK" dirty="0"/>
          </a:p>
        </p:txBody>
      </p:sp>
      <p:pic>
        <p:nvPicPr>
          <p:cNvPr id="5" name="Zástupný objekt pre obsah 4" descr="Obrázok, na ktorom je ošatenie, osoba, ľudská tvár, motýlik&#10;&#10;Automaticky generovaný popis">
            <a:extLst>
              <a:ext uri="{FF2B5EF4-FFF2-40B4-BE49-F238E27FC236}">
                <a16:creationId xmlns:a16="http://schemas.microsoft.com/office/drawing/2014/main" id="{C5935676-B632-B973-A8E5-E30AFE038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281" y="1984375"/>
            <a:ext cx="5878126" cy="4197350"/>
          </a:xfrm>
        </p:spPr>
      </p:pic>
    </p:spTree>
    <p:extLst>
      <p:ext uri="{BB962C8B-B14F-4D97-AF65-F5344CB8AC3E}">
        <p14:creationId xmlns:p14="http://schemas.microsoft.com/office/powerpoint/2010/main" val="400690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334BC5-72E2-DF48-6ECE-9349FCB0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9959340" cy="1182187"/>
          </a:xfrm>
        </p:spPr>
        <p:txBody>
          <a:bodyPr>
            <a:normAutofit/>
          </a:bodyPr>
          <a:lstStyle/>
          <a:p>
            <a:r>
              <a:rPr lang="cs-CZ" dirty="0"/>
              <a:t>Současná královská rodina</a:t>
            </a:r>
          </a:p>
        </p:txBody>
      </p:sp>
      <p:pic>
        <p:nvPicPr>
          <p:cNvPr id="4" name="Zástupný objekt pre obsah 3">
            <a:extLst>
              <a:ext uri="{FF2B5EF4-FFF2-40B4-BE49-F238E27FC236}">
                <a16:creationId xmlns:a16="http://schemas.microsoft.com/office/drawing/2014/main" id="{CDFD8EDC-68D8-0F3D-882A-1752E463A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395" y="2093976"/>
            <a:ext cx="5187950" cy="389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6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B7DDA2-3EC6-BBB8-6C9E-13DA4367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Poslechové cvičení (13)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91699D-7A15-7C0E-BCDD-88BE0302B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>
                <a:hlinkClick r:id="rId2"/>
              </a:rPr>
              <a:t>https://www.hf.ntnu.no/now/oral/0103b.htm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425427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91</TotalTime>
  <Words>263</Words>
  <Application>Microsoft Office PowerPoint</Application>
  <PresentationFormat>Širokouhlá</PresentationFormat>
  <Paragraphs>36</Paragraphs>
  <Slides>12</Slides>
  <Notes>0</Notes>
  <HiddenSlides>0</HiddenSlides>
  <MMClips>4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5" baseType="lpstr">
      <vt:lpstr>Arial</vt:lpstr>
      <vt:lpstr>Avenir Next LT Pro</vt:lpstr>
      <vt:lpstr>ColorBlockVTI</vt:lpstr>
      <vt:lpstr>Norština pro začátečníky</vt:lpstr>
      <vt:lpstr>Spørsmål og svar</vt:lpstr>
      <vt:lpstr>[ʈ]</vt:lpstr>
      <vt:lpstr>[ʈ]</vt:lpstr>
      <vt:lpstr>Referendum o rozpuštění unie se Švédskem (1905)</vt:lpstr>
      <vt:lpstr>Dánský princ Karel</vt:lpstr>
      <vt:lpstr>Norské referendum o monarchii (1905)</vt:lpstr>
      <vt:lpstr>Korunovace</vt:lpstr>
      <vt:lpstr>Nidaroský dóm</vt:lpstr>
      <vt:lpstr>Haakon, Maud a Olaf</vt:lpstr>
      <vt:lpstr>Současná královská rodina</vt:lpstr>
      <vt:lpstr>Poslechové cvičení (13)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2024-10-07T13:29:10Z</dcterms:created>
  <dcterms:modified xsi:type="dcterms:W3CDTF">2026-10-01T06:55:45Z</dcterms:modified>
</cp:coreProperties>
</file>